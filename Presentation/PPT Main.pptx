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5"/>
  </p:notesMasterIdLst>
  <p:handoutMasterIdLst>
    <p:handoutMasterId r:id="rId16"/>
  </p:handoutMasterIdLst>
  <p:sldIdLst>
    <p:sldId id="292" r:id="rId2"/>
    <p:sldId id="315" r:id="rId3"/>
    <p:sldId id="316" r:id="rId4"/>
    <p:sldId id="317" r:id="rId5"/>
    <p:sldId id="318" r:id="rId6"/>
    <p:sldId id="319" r:id="rId7"/>
    <p:sldId id="320" r:id="rId8"/>
    <p:sldId id="321" r:id="rId9"/>
    <p:sldId id="322" r:id="rId10"/>
    <p:sldId id="323" r:id="rId11"/>
    <p:sldId id="324" r:id="rId12"/>
    <p:sldId id="325" r:id="rId13"/>
    <p:sldId id="326" r:id="rId14"/>
  </p:sldIdLst>
  <p:sldSz cx="10080625" cy="7559675"/>
  <p:notesSz cx="7772400" cy="10025063"/>
  <p:defaultTextStyle>
    <a:defPPr>
      <a:defRPr lang="en-GB"/>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787"/>
    <p:restoredTop sz="90929"/>
  </p:normalViewPr>
  <p:slideViewPr>
    <p:cSldViewPr>
      <p:cViewPr varScale="1">
        <p:scale>
          <a:sx n="68" d="100"/>
          <a:sy n="68" d="100"/>
        </p:scale>
        <p:origin x="994" y="62"/>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16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402138" y="0"/>
            <a:ext cx="3368675" cy="501650"/>
          </a:xfrm>
          <a:prstGeom prst="rect">
            <a:avLst/>
          </a:prstGeom>
        </p:spPr>
        <p:txBody>
          <a:bodyPr vert="horz" lIns="91440" tIns="45720" rIns="91440" bIns="45720" rtlCol="0"/>
          <a:lstStyle>
            <a:lvl1pPr algn="r">
              <a:defRPr sz="1200"/>
            </a:lvl1pPr>
          </a:lstStyle>
          <a:p>
            <a:fld id="{9805B0B3-166E-4B00-A93A-02396BF50277}" type="datetimeFigureOut">
              <a:rPr lang="en-US" smtClean="0"/>
              <a:pPr/>
              <a:t>9/11/2025</a:t>
            </a:fld>
            <a:endParaRPr lang="en-US"/>
          </a:p>
        </p:txBody>
      </p:sp>
      <p:sp>
        <p:nvSpPr>
          <p:cNvPr id="4" name="Footer Placeholder 3"/>
          <p:cNvSpPr>
            <a:spLocks noGrp="1"/>
          </p:cNvSpPr>
          <p:nvPr>
            <p:ph type="ftr" sz="quarter" idx="2"/>
          </p:nvPr>
        </p:nvSpPr>
        <p:spPr>
          <a:xfrm>
            <a:off x="0" y="9521825"/>
            <a:ext cx="3368675" cy="50165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402138" y="9521825"/>
            <a:ext cx="3368675" cy="501650"/>
          </a:xfrm>
          <a:prstGeom prst="rect">
            <a:avLst/>
          </a:prstGeom>
        </p:spPr>
        <p:txBody>
          <a:bodyPr vert="horz" lIns="91440" tIns="45720" rIns="91440" bIns="45720" rtlCol="0" anchor="b"/>
          <a:lstStyle>
            <a:lvl1pPr algn="r">
              <a:defRPr sz="1200"/>
            </a:lvl1pPr>
          </a:lstStyle>
          <a:p>
            <a:fld id="{D066ED77-972E-49B8-AD19-70195E733580}"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1"/>
          <p:cNvSpPr>
            <a:spLocks noGrp="1" noRot="1" noChangeAspect="1" noChangeArrowheads="1"/>
          </p:cNvSpPr>
          <p:nvPr>
            <p:ph type="sldImg"/>
          </p:nvPr>
        </p:nvSpPr>
        <p:spPr bwMode="auto">
          <a:xfrm>
            <a:off x="1597025" y="1004888"/>
            <a:ext cx="4576763" cy="3432175"/>
          </a:xfrm>
          <a:prstGeom prst="rect">
            <a:avLst/>
          </a:prstGeom>
          <a:solidFill>
            <a:srgbClr val="FFFFFF"/>
          </a:solidFill>
          <a:ln w="9525">
            <a:noFill/>
            <a:miter lim="800000"/>
            <a:headEnd/>
            <a:tailEnd/>
          </a:ln>
        </p:spPr>
      </p:sp>
      <p:sp>
        <p:nvSpPr>
          <p:cNvPr id="2050" name="Rectangle 2"/>
          <p:cNvSpPr txBox="1">
            <a:spLocks noGrp="1" noChangeArrowheads="1"/>
          </p:cNvSpPr>
          <p:nvPr>
            <p:ph type="body" idx="1"/>
          </p:nvPr>
        </p:nvSpPr>
        <p:spPr bwMode="auto">
          <a:xfrm>
            <a:off x="1185863" y="4772025"/>
            <a:ext cx="5405437" cy="3810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endParaRPr lang="en-US" noProof="0"/>
          </a:p>
        </p:txBody>
      </p:sp>
    </p:spTree>
  </p:cSld>
  <p:clrMap bg1="lt1" tx1="dk1" bg2="lt2" tx2="dk2" accent1="accent1" accent2="accent2" accent3="accent3" accent4="accent4" accent5="accent5" accent6="accent6" hlink="hlink" folHlink="folHlink"/>
  <p:hf sldNum="0" hdr="0" ftr="0" dt="0"/>
  <p:notesStyle>
    <a:lvl1pPr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itchFamily="18"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p:sp>
      <p:sp>
        <p:nvSpPr>
          <p:cNvPr id="5123" name="Notes Placeholder 2"/>
          <p:cNvSpPr txBox="1">
            <a:spLocks noGrp="1"/>
          </p:cNvSpPr>
          <p:nvPr>
            <p:ph type="body" idx="1"/>
          </p:nvPr>
        </p:nvSpPr>
        <p:spPr>
          <a:noFill/>
          <a:ln/>
        </p:spPr>
        <p:txBody>
          <a:bodyPr/>
          <a:lstStyle/>
          <a:p>
            <a:endParaRPr lang="en-IN"/>
          </a:p>
        </p:txBody>
      </p:sp>
      <p:sp>
        <p:nvSpPr>
          <p:cNvPr id="5125" name="Header Placeholder 4"/>
          <p:cNvSpPr>
            <a:spLocks noGrp="1"/>
          </p:cNvSpPr>
          <p:nvPr>
            <p:ph type="hdr" sz="quarter" idx="4294967295"/>
          </p:nvPr>
        </p:nvSpPr>
        <p:spPr bwMode="auto">
          <a:xfrm>
            <a:off x="0" y="0"/>
            <a:ext cx="3368675" cy="501650"/>
          </a:xfrm>
          <a:prstGeom prst="rect">
            <a:avLst/>
          </a:prstGeom>
          <a:noFill/>
          <a:ln>
            <a:miter lim="800000"/>
            <a:headEnd/>
            <a:tailEnd/>
          </a:ln>
        </p:spPr>
        <p:txBody>
          <a:bodyPr lIns="101700" tIns="50850" rIns="101700" bIns="50850"/>
          <a:lstStyle/>
          <a:p>
            <a:endParaRPr lang="en-IN"/>
          </a:p>
        </p:txBody>
      </p:sp>
      <p:sp>
        <p:nvSpPr>
          <p:cNvPr id="5126" name="Footer Placeholder 5"/>
          <p:cNvSpPr>
            <a:spLocks noGrp="1"/>
          </p:cNvSpPr>
          <p:nvPr>
            <p:ph type="ftr" sz="quarter" idx="4294967295"/>
          </p:nvPr>
        </p:nvSpPr>
        <p:spPr bwMode="auto">
          <a:xfrm>
            <a:off x="0" y="9521825"/>
            <a:ext cx="3368675" cy="501650"/>
          </a:xfrm>
          <a:prstGeom prst="rect">
            <a:avLst/>
          </a:prstGeom>
          <a:noFill/>
          <a:ln>
            <a:miter lim="800000"/>
            <a:headEnd/>
            <a:tailEnd/>
          </a:ln>
        </p:spPr>
        <p:txBody>
          <a:bodyPr lIns="101700" tIns="50850" rIns="101700" bIns="50850"/>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512888" y="4283075"/>
            <a:ext cx="7056437" cy="1931988"/>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504825" y="1763713"/>
            <a:ext cx="9072563" cy="49895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925" y="4857750"/>
            <a:ext cx="8567738" cy="15017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96925" y="3203575"/>
            <a:ext cx="8567738" cy="1654175"/>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504825" y="1763713"/>
            <a:ext cx="4459288" cy="498951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16513" y="1763713"/>
            <a:ext cx="4460875" cy="498951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4825" y="1692275"/>
            <a:ext cx="4452938" cy="7048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4825" y="2397125"/>
            <a:ext cx="4452938" cy="435610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121275" y="1692275"/>
            <a:ext cx="4456113" cy="7048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21275" y="2397125"/>
            <a:ext cx="4456113" cy="435610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941763" y="301625"/>
            <a:ext cx="5635625" cy="6451600"/>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4825" y="1581150"/>
            <a:ext cx="3316288" cy="517207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976438" y="674688"/>
            <a:ext cx="6048375" cy="45370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76438" y="5916613"/>
            <a:ext cx="6048375" cy="8874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504825" y="1763713"/>
            <a:ext cx="9072563" cy="49895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10438" y="303213"/>
            <a:ext cx="2266950" cy="6450012"/>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504825" y="303213"/>
            <a:ext cx="6653213" cy="64500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70000"/>
            <a:lum/>
          </a:blip>
          <a:srcRect/>
          <a:stretch>
            <a:fillRect l="-2000" r="-2000"/>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mj-lt"/>
          <a:ea typeface="+mj-ea"/>
          <a:cs typeface="+mj-cs"/>
        </a:defRPr>
      </a:lvl1pPr>
      <a:lvl2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Times" pitchFamily="18" charset="0"/>
        </a:defRPr>
      </a:lvl2pPr>
      <a:lvl3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Times" pitchFamily="18" charset="0"/>
        </a:defRPr>
      </a:lvl3pPr>
      <a:lvl4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Times" pitchFamily="18" charset="0"/>
        </a:defRPr>
      </a:lvl4pPr>
      <a:lvl5pPr algn="ctr" defTabSz="457200" rtl="0" eaLnBrk="0" fontAlgn="base" hangingPunct="0">
        <a:spcBef>
          <a:spcPct val="0"/>
        </a:spcBef>
        <a:spcAft>
          <a:spcPct val="0"/>
        </a:spcAft>
        <a:buClr>
          <a:srgbClr val="000000"/>
        </a:buClr>
        <a:buSzPct val="45000"/>
        <a:buFont typeface="StarBats" charset="0"/>
        <a:defRPr sz="4400">
          <a:solidFill>
            <a:srgbClr val="000000"/>
          </a:solidFill>
          <a:latin typeface="Times" pitchFamily="18" charset="0"/>
        </a:defRPr>
      </a:lvl5pPr>
      <a:lvl6pPr marL="1897063" algn="l" defTabSz="457200" rtl="0" eaLnBrk="0" fontAlgn="base" hangingPunct="0">
        <a:spcBef>
          <a:spcPct val="0"/>
        </a:spcBef>
        <a:spcAft>
          <a:spcPct val="0"/>
        </a:spcAft>
        <a:buClr>
          <a:srgbClr val="000000"/>
        </a:buClr>
        <a:buSzPct val="45000"/>
        <a:buFont typeface="StarBats" charset="0"/>
        <a:defRPr sz="4400">
          <a:solidFill>
            <a:srgbClr val="000000"/>
          </a:solidFill>
          <a:latin typeface="Times New Roman" pitchFamily="18" charset="0"/>
        </a:defRPr>
      </a:lvl6pPr>
      <a:lvl7pPr marL="2354263" algn="l" defTabSz="457200" rtl="0" eaLnBrk="0" fontAlgn="base" hangingPunct="0">
        <a:spcBef>
          <a:spcPct val="0"/>
        </a:spcBef>
        <a:spcAft>
          <a:spcPct val="0"/>
        </a:spcAft>
        <a:buClr>
          <a:srgbClr val="000000"/>
        </a:buClr>
        <a:buSzPct val="45000"/>
        <a:buFont typeface="StarBats" charset="0"/>
        <a:defRPr sz="4400">
          <a:solidFill>
            <a:srgbClr val="000000"/>
          </a:solidFill>
          <a:latin typeface="Times New Roman" pitchFamily="18" charset="0"/>
        </a:defRPr>
      </a:lvl7pPr>
      <a:lvl8pPr marL="2811463" algn="l" defTabSz="457200" rtl="0" eaLnBrk="0" fontAlgn="base" hangingPunct="0">
        <a:spcBef>
          <a:spcPct val="0"/>
        </a:spcBef>
        <a:spcAft>
          <a:spcPct val="0"/>
        </a:spcAft>
        <a:buClr>
          <a:srgbClr val="000000"/>
        </a:buClr>
        <a:buSzPct val="45000"/>
        <a:buFont typeface="StarBats" charset="0"/>
        <a:defRPr sz="4400">
          <a:solidFill>
            <a:srgbClr val="000000"/>
          </a:solidFill>
          <a:latin typeface="Times New Roman" pitchFamily="18" charset="0"/>
        </a:defRPr>
      </a:lvl8pPr>
      <a:lvl9pPr marL="3268663" algn="l" defTabSz="457200" rtl="0" eaLnBrk="0" fontAlgn="base" hangingPunct="0">
        <a:spcBef>
          <a:spcPct val="0"/>
        </a:spcBef>
        <a:spcAft>
          <a:spcPct val="0"/>
        </a:spcAft>
        <a:buClr>
          <a:srgbClr val="000000"/>
        </a:buClr>
        <a:buSzPct val="45000"/>
        <a:buFont typeface="StarBats" charset="0"/>
        <a:defRPr sz="4400">
          <a:solidFill>
            <a:srgbClr val="000000"/>
          </a:solidFill>
          <a:latin typeface="Times New Roman" pitchFamily="18" charset="0"/>
        </a:defRPr>
      </a:lvl9pPr>
    </p:titleStyle>
    <p:bodyStyle>
      <a:lvl1pPr marL="431800" indent="-323850" algn="l" defTabSz="457200" rtl="0" eaLnBrk="0" fontAlgn="base" hangingPunct="0">
        <a:spcBef>
          <a:spcPct val="0"/>
        </a:spcBef>
        <a:spcAft>
          <a:spcPts val="1413"/>
        </a:spcAft>
        <a:buClr>
          <a:srgbClr val="000000"/>
        </a:buClr>
        <a:buSzPct val="45000"/>
        <a:buFont typeface="StarBats" charset="0"/>
        <a:buChar char="&quot;"/>
        <a:defRPr sz="3200">
          <a:solidFill>
            <a:srgbClr val="000000"/>
          </a:solidFill>
          <a:latin typeface="+mn-lt"/>
          <a:ea typeface="+mn-ea"/>
          <a:cs typeface="+mn-cs"/>
        </a:defRPr>
      </a:lvl1pPr>
      <a:lvl2pPr marL="863600" indent="-287338" algn="l" defTabSz="457200" rtl="0" eaLnBrk="0" fontAlgn="base" hangingPunct="0">
        <a:spcBef>
          <a:spcPct val="0"/>
        </a:spcBef>
        <a:spcAft>
          <a:spcPts val="1125"/>
        </a:spcAft>
        <a:buClr>
          <a:srgbClr val="000000"/>
        </a:buClr>
        <a:buSzPct val="75000"/>
        <a:buFont typeface="StarBats" charset="0"/>
        <a:buChar char=""/>
        <a:defRPr sz="2800">
          <a:solidFill>
            <a:srgbClr val="000000"/>
          </a:solidFill>
          <a:latin typeface="+mn-lt"/>
        </a:defRPr>
      </a:lvl2pPr>
      <a:lvl3pPr marL="1295400" indent="-215900" algn="l" defTabSz="457200" rtl="0" eaLnBrk="0" fontAlgn="base" hangingPunct="0">
        <a:spcBef>
          <a:spcPct val="0"/>
        </a:spcBef>
        <a:spcAft>
          <a:spcPts val="850"/>
        </a:spcAft>
        <a:buClr>
          <a:srgbClr val="000000"/>
        </a:buClr>
        <a:buSzPct val="45000"/>
        <a:buFont typeface="StarBats" charset="0"/>
        <a:buChar char="&quot;"/>
        <a:defRPr sz="2400">
          <a:solidFill>
            <a:srgbClr val="000000"/>
          </a:solidFill>
          <a:latin typeface="+mn-lt"/>
        </a:defRPr>
      </a:lvl3pPr>
      <a:lvl4pPr marL="1727200" indent="-215900" algn="l" defTabSz="457200" rtl="0" eaLnBrk="0" fontAlgn="base" hangingPunct="0">
        <a:spcBef>
          <a:spcPct val="0"/>
        </a:spcBef>
        <a:spcAft>
          <a:spcPts val="563"/>
        </a:spcAft>
        <a:buClr>
          <a:srgbClr val="000000"/>
        </a:buClr>
        <a:buSzPct val="75000"/>
        <a:buFont typeface="StarBats" charset="0"/>
        <a:buChar char=""/>
        <a:defRPr sz="2000">
          <a:solidFill>
            <a:srgbClr val="000000"/>
          </a:solidFill>
          <a:latin typeface="+mn-lt"/>
        </a:defRPr>
      </a:lvl4pPr>
      <a:lvl5pPr marL="21590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5pPr>
      <a:lvl6pPr marL="26162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6pPr>
      <a:lvl7pPr marL="30734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7pPr>
      <a:lvl8pPr marL="35306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8pPr>
      <a:lvl9pPr marL="3987800" indent="-215900" algn="l" defTabSz="457200" rtl="0" eaLnBrk="0" fontAlgn="base" hangingPunct="0">
        <a:spcBef>
          <a:spcPct val="0"/>
        </a:spcBef>
        <a:spcAft>
          <a:spcPts val="275"/>
        </a:spcAft>
        <a:buClr>
          <a:srgbClr val="000000"/>
        </a:buClr>
        <a:buSzPct val="45000"/>
        <a:buFont typeface="StarBats" charset="0"/>
        <a:buChar char="&quot;"/>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docs.python.org/3/"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6" name="Title 1"/>
          <p:cNvSpPr>
            <a:spLocks noGrp="1"/>
          </p:cNvSpPr>
          <p:nvPr>
            <p:ph type="title"/>
          </p:nvPr>
        </p:nvSpPr>
        <p:spPr bwMode="auto">
          <a:noFill/>
          <a:ln>
            <a:miter lim="800000"/>
            <a:headEnd/>
            <a:tailEnd/>
          </a:ln>
        </p:spPr>
        <p:txBody>
          <a:bodyPr vert="horz" wrap="square" lIns="100794" tIns="50397" rIns="100794" bIns="50397" numCol="1" anchor="t" anchorCtr="0" compatLnSpc="1">
            <a:prstTxWarp prst="textNoShape">
              <a:avLst/>
            </a:prstTxWarp>
          </a:bodyPr>
          <a:lstStyle/>
          <a:p>
            <a:r>
              <a:rPr lang="en-US" dirty="0"/>
              <a:t> </a:t>
            </a:r>
            <a:endParaRPr lang="en-IN" dirty="0"/>
          </a:p>
        </p:txBody>
      </p:sp>
      <p:sp>
        <p:nvSpPr>
          <p:cNvPr id="1027" name="Rectangle 7"/>
          <p:cNvSpPr>
            <a:spLocks noChangeArrowheads="1"/>
          </p:cNvSpPr>
          <p:nvPr/>
        </p:nvSpPr>
        <p:spPr bwMode="auto">
          <a:xfrm>
            <a:off x="3897312" y="4788058"/>
            <a:ext cx="4191000" cy="1415772"/>
          </a:xfrm>
          <a:prstGeom prst="rect">
            <a:avLst/>
          </a:prstGeom>
          <a:noFill/>
          <a:ln w="9525">
            <a:noFill/>
            <a:miter lim="800000"/>
            <a:headEnd/>
            <a:tailEnd/>
          </a:ln>
        </p:spPr>
        <p:txBody>
          <a:bodyPr lIns="0" tIns="0" rIns="0" bIns="0">
            <a:spAutoFit/>
          </a:bodyPr>
          <a:lstStyle/>
          <a:p>
            <a:pPr algn="ctr">
              <a:buClr>
                <a:srgbClr val="000000"/>
              </a:buClr>
              <a:buSzPct val="38000"/>
              <a:tabLst>
                <a:tab pos="723900" algn="l"/>
                <a:tab pos="1447800" algn="l"/>
                <a:tab pos="2171700" algn="l"/>
                <a:tab pos="2895600" algn="l"/>
                <a:tab pos="3619500" algn="l"/>
              </a:tabLst>
            </a:pPr>
            <a:r>
              <a:rPr lang="en-US" sz="2000" b="1" u="sng" dirty="0">
                <a:solidFill>
                  <a:srgbClr val="FF0000"/>
                </a:solidFill>
                <a:latin typeface="Helvetica" charset="0"/>
              </a:rPr>
              <a:t>Submitted To:</a:t>
            </a:r>
          </a:p>
          <a:p>
            <a:pPr algn="ctr">
              <a:buClr>
                <a:srgbClr val="000000"/>
              </a:buClr>
              <a:buSzPct val="38000"/>
              <a:tabLst>
                <a:tab pos="723900" algn="l"/>
                <a:tab pos="1447800" algn="l"/>
                <a:tab pos="2171700" algn="l"/>
                <a:tab pos="2895600" algn="l"/>
                <a:tab pos="3619500" algn="l"/>
              </a:tabLst>
            </a:pPr>
            <a:r>
              <a:rPr lang="en-US" b="1" dirty="0">
                <a:solidFill>
                  <a:srgbClr val="FF0000"/>
                </a:solidFill>
                <a:latin typeface="Helvetica" charset="0"/>
              </a:rPr>
              <a:t>Mr. </a:t>
            </a:r>
            <a:r>
              <a:rPr lang="en-US" b="1" dirty="0" err="1">
                <a:solidFill>
                  <a:srgbClr val="FF0000"/>
                </a:solidFill>
                <a:latin typeface="Helvetica" charset="0"/>
              </a:rPr>
              <a:t>Asharam</a:t>
            </a:r>
            <a:r>
              <a:rPr lang="en-US" b="1" dirty="0">
                <a:solidFill>
                  <a:srgbClr val="FF0000"/>
                </a:solidFill>
                <a:latin typeface="Helvetica" charset="0"/>
              </a:rPr>
              <a:t> Gurjar </a:t>
            </a:r>
          </a:p>
          <a:p>
            <a:pPr algn="ctr">
              <a:buClr>
                <a:srgbClr val="000000"/>
              </a:buClr>
              <a:buSzPct val="38000"/>
              <a:tabLst>
                <a:tab pos="723900" algn="l"/>
                <a:tab pos="1447800" algn="l"/>
                <a:tab pos="2171700" algn="l"/>
                <a:tab pos="2895600" algn="l"/>
                <a:tab pos="3619500" algn="l"/>
              </a:tabLst>
            </a:pPr>
            <a:r>
              <a:rPr lang="en-US" b="1" dirty="0">
                <a:solidFill>
                  <a:srgbClr val="FF0000"/>
                </a:solidFill>
                <a:latin typeface="Helvetica" charset="0"/>
              </a:rPr>
              <a:t>Assistant Professor</a:t>
            </a:r>
          </a:p>
          <a:p>
            <a:pPr algn="ctr">
              <a:buClr>
                <a:srgbClr val="000000"/>
              </a:buClr>
              <a:buSzPct val="38000"/>
              <a:tabLst>
                <a:tab pos="723900" algn="l"/>
                <a:tab pos="1447800" algn="l"/>
                <a:tab pos="2171700" algn="l"/>
                <a:tab pos="2895600" algn="l"/>
                <a:tab pos="3619500" algn="l"/>
              </a:tabLst>
            </a:pPr>
            <a:r>
              <a:rPr lang="en-US" b="1" dirty="0">
                <a:solidFill>
                  <a:srgbClr val="FF0000"/>
                </a:solidFill>
                <a:latin typeface="Helvetica" charset="0"/>
              </a:rPr>
              <a:t>Department of IT</a:t>
            </a:r>
          </a:p>
        </p:txBody>
      </p:sp>
      <p:sp>
        <p:nvSpPr>
          <p:cNvPr id="1029" name="TextBox 10"/>
          <p:cNvSpPr txBox="1">
            <a:spLocks noChangeArrowheads="1"/>
          </p:cNvSpPr>
          <p:nvPr/>
        </p:nvSpPr>
        <p:spPr bwMode="auto">
          <a:xfrm>
            <a:off x="3347244" y="3017838"/>
            <a:ext cx="5291137" cy="1517551"/>
          </a:xfrm>
          <a:prstGeom prst="rect">
            <a:avLst/>
          </a:prstGeom>
          <a:noFill/>
          <a:ln w="9525">
            <a:noFill/>
            <a:miter lim="800000"/>
            <a:headEnd/>
            <a:tailEnd/>
          </a:ln>
        </p:spPr>
        <p:txBody>
          <a:bodyPr lIns="100794" tIns="50397" rIns="100794" bIns="50397">
            <a:spAutoFit/>
          </a:bodyPr>
          <a:lstStyle/>
          <a:p>
            <a:pPr algn="ctr">
              <a:buClr>
                <a:srgbClr val="000000"/>
              </a:buClr>
              <a:buSzPct val="38000"/>
              <a:tabLst>
                <a:tab pos="723900" algn="l"/>
                <a:tab pos="1447800" algn="l"/>
                <a:tab pos="2171700" algn="l"/>
                <a:tab pos="2895600" algn="l"/>
                <a:tab pos="3619500" algn="l"/>
              </a:tabLst>
            </a:pPr>
            <a:r>
              <a:rPr lang="en-US" sz="2000" b="1" u="sng" dirty="0">
                <a:latin typeface="Helvetica" charset="0"/>
              </a:rPr>
              <a:t>Presented By:</a:t>
            </a:r>
          </a:p>
          <a:p>
            <a:pPr algn="ctr">
              <a:buClr>
                <a:srgbClr val="000000"/>
              </a:buClr>
              <a:buSzPct val="38000"/>
              <a:tabLst>
                <a:tab pos="723900" algn="l"/>
                <a:tab pos="1447800" algn="l"/>
                <a:tab pos="2171700" algn="l"/>
                <a:tab pos="2895600" algn="l"/>
                <a:tab pos="3619500" algn="l"/>
              </a:tabLst>
            </a:pPr>
            <a:r>
              <a:rPr lang="en-US" b="1" dirty="0">
                <a:latin typeface="Helvetica" charset="0"/>
              </a:rPr>
              <a:t>Name of Candidate: Ritik Agarwal </a:t>
            </a:r>
          </a:p>
          <a:p>
            <a:pPr algn="ctr">
              <a:buClr>
                <a:srgbClr val="000000"/>
              </a:buClr>
              <a:buSzPct val="38000"/>
              <a:tabLst>
                <a:tab pos="723900" algn="l"/>
                <a:tab pos="1447800" algn="l"/>
                <a:tab pos="2171700" algn="l"/>
                <a:tab pos="2895600" algn="l"/>
                <a:tab pos="3619500" algn="l"/>
              </a:tabLst>
            </a:pPr>
            <a:r>
              <a:rPr lang="en-US" b="1" dirty="0">
                <a:latin typeface="Helvetica" charset="0"/>
              </a:rPr>
              <a:t>University Roll No.: 24EJCIT158</a:t>
            </a:r>
          </a:p>
          <a:p>
            <a:pPr algn="ctr">
              <a:buClr>
                <a:srgbClr val="000000"/>
              </a:buClr>
              <a:buSzPct val="38000"/>
              <a:tabLst>
                <a:tab pos="723900" algn="l"/>
                <a:tab pos="1447800" algn="l"/>
                <a:tab pos="2171700" algn="l"/>
                <a:tab pos="2895600" algn="l"/>
                <a:tab pos="3619500" algn="l"/>
              </a:tabLst>
            </a:pPr>
            <a:r>
              <a:rPr lang="en-US" b="1" dirty="0">
                <a:latin typeface="Helvetica" charset="0"/>
              </a:rPr>
              <a:t>Branch/Class/Section: IT/B.Tech/C</a:t>
            </a:r>
          </a:p>
        </p:txBody>
      </p:sp>
      <p:sp>
        <p:nvSpPr>
          <p:cNvPr id="1030" name="Text Box 1"/>
          <p:cNvSpPr txBox="1">
            <a:spLocks noChangeArrowheads="1"/>
          </p:cNvSpPr>
          <p:nvPr/>
        </p:nvSpPr>
        <p:spPr bwMode="auto">
          <a:xfrm>
            <a:off x="2846439" y="1355845"/>
            <a:ext cx="6292748" cy="1661993"/>
          </a:xfrm>
          <a:prstGeom prst="rect">
            <a:avLst/>
          </a:prstGeom>
          <a:noFill/>
          <a:ln w="9525">
            <a:noFill/>
            <a:miter lim="800000"/>
            <a:headEnd/>
            <a:tailEnd/>
          </a:ln>
        </p:spPr>
        <p:txBody>
          <a:bodyPr wrap="none" lIns="0" tIns="0" rIns="0" bIns="0">
            <a:spAutoFit/>
          </a:bodyPr>
          <a:lstStyle/>
          <a:p>
            <a:pPr algn="ctr">
              <a:buClr>
                <a:srgbClr val="000000"/>
              </a:buClr>
              <a:buSzPct val="38000"/>
              <a:buFont typeface="StarBats" charset="0"/>
              <a:buNone/>
              <a:tabLst>
                <a:tab pos="723900" algn="l"/>
                <a:tab pos="1447800" algn="l"/>
                <a:tab pos="2171700" algn="l"/>
                <a:tab pos="2895600" algn="l"/>
                <a:tab pos="3619500" algn="l"/>
              </a:tabLst>
            </a:pPr>
            <a:r>
              <a:rPr lang="en-GB" sz="3600" b="1" dirty="0">
                <a:solidFill>
                  <a:srgbClr val="FF0000"/>
                </a:solidFill>
                <a:latin typeface="Helvetica" charset="0"/>
              </a:rPr>
              <a:t>Industrial Training Seminar</a:t>
            </a:r>
          </a:p>
          <a:p>
            <a:pPr algn="ctr">
              <a:buClr>
                <a:srgbClr val="000000"/>
              </a:buClr>
              <a:buSzPct val="38000"/>
              <a:buFont typeface="StarBats" charset="0"/>
              <a:buNone/>
              <a:tabLst>
                <a:tab pos="723900" algn="l"/>
                <a:tab pos="1447800" algn="l"/>
                <a:tab pos="2171700" algn="l"/>
                <a:tab pos="2895600" algn="l"/>
                <a:tab pos="3619500" algn="l"/>
              </a:tabLst>
            </a:pPr>
            <a:r>
              <a:rPr lang="en-GB" b="1" dirty="0">
                <a:solidFill>
                  <a:srgbClr val="FF0000"/>
                </a:solidFill>
                <a:latin typeface="Helvetica" charset="0"/>
              </a:rPr>
              <a:t>on</a:t>
            </a:r>
            <a:r>
              <a:rPr lang="en-GB" sz="3600" b="1" dirty="0">
                <a:solidFill>
                  <a:srgbClr val="FF0000"/>
                </a:solidFill>
                <a:latin typeface="Helvetica" charset="0"/>
              </a:rPr>
              <a:t> </a:t>
            </a:r>
          </a:p>
          <a:p>
            <a:pPr algn="ctr">
              <a:buClr>
                <a:srgbClr val="000000"/>
              </a:buClr>
              <a:buSzPct val="38000"/>
              <a:buFont typeface="StarBats" charset="0"/>
              <a:buNone/>
              <a:tabLst>
                <a:tab pos="723900" algn="l"/>
                <a:tab pos="1447800" algn="l"/>
                <a:tab pos="2171700" algn="l"/>
                <a:tab pos="2895600" algn="l"/>
                <a:tab pos="3619500" algn="l"/>
              </a:tabLst>
            </a:pPr>
            <a:r>
              <a:rPr lang="en-GB" sz="3600" b="1" dirty="0">
                <a:solidFill>
                  <a:srgbClr val="FF0000"/>
                </a:solidFill>
                <a:latin typeface="Helvetica" charset="0"/>
              </a:rPr>
              <a:t>“</a:t>
            </a:r>
            <a:r>
              <a:rPr lang="en-IN" sz="3600" b="1" dirty="0">
                <a:solidFill>
                  <a:srgbClr val="FF0000"/>
                </a:solidFill>
              </a:rPr>
              <a:t>Python Programming Project</a:t>
            </a:r>
            <a:r>
              <a:rPr lang="en-GB" sz="3600" b="1" dirty="0">
                <a:solidFill>
                  <a:srgbClr val="FF0000"/>
                </a:solidFill>
                <a:latin typeface="Helvetica" charset="0"/>
              </a:rPr>
              <a:t>”</a:t>
            </a:r>
          </a:p>
        </p:txBody>
      </p:sp>
      <p:pic>
        <p:nvPicPr>
          <p:cNvPr id="7" name="Picture 6" descr="sidebaar.png"/>
          <p:cNvPicPr>
            <a:picLocks noChangeAspect="1"/>
          </p:cNvPicPr>
          <p:nvPr/>
        </p:nvPicPr>
        <p:blipFill>
          <a:blip r:embed="rId3"/>
          <a:stretch>
            <a:fillRect/>
          </a:stretch>
        </p:blipFill>
        <p:spPr>
          <a:xfrm>
            <a:off x="0" y="0"/>
            <a:ext cx="2212819" cy="7559675"/>
          </a:xfrm>
          <a:prstGeom prst="rect">
            <a:avLst/>
          </a:prstGeom>
        </p:spPr>
      </p:pic>
    </p:spTree>
  </p:cSld>
  <p:clrMapOvr>
    <a:masterClrMapping/>
  </p:clrMapOvr>
  <p:transition spd="slow">
    <p:circl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05B4C6-61BE-B76C-7CCD-D8DBBC49F22C}"/>
              </a:ext>
            </a:extLst>
          </p:cNvPr>
          <p:cNvSpPr txBox="1"/>
          <p:nvPr/>
        </p:nvSpPr>
        <p:spPr>
          <a:xfrm>
            <a:off x="149224" y="350837"/>
            <a:ext cx="6031088" cy="769441"/>
          </a:xfrm>
          <a:prstGeom prst="rect">
            <a:avLst/>
          </a:prstGeom>
          <a:noFill/>
        </p:spPr>
        <p:txBody>
          <a:bodyPr wrap="square">
            <a:spAutoFit/>
          </a:bodyPr>
          <a:lstStyle/>
          <a:p>
            <a:r>
              <a:rPr lang="en-IN" sz="4400" b="1" dirty="0">
                <a:solidFill>
                  <a:srgbClr val="FF0000"/>
                </a:solidFill>
                <a:latin typeface="Helvetica" panose="020B0604020202020204" pitchFamily="34" charset="0"/>
                <a:cs typeface="Helvetica" panose="020B0604020202020204" pitchFamily="34" charset="0"/>
              </a:rPr>
              <a:t>Introduction</a:t>
            </a:r>
            <a:r>
              <a:rPr lang="en-IN" sz="4400" b="1" dirty="0">
                <a:solidFill>
                  <a:srgbClr val="FF0000"/>
                </a:solidFill>
              </a:rPr>
              <a:t>/Abstract</a:t>
            </a:r>
          </a:p>
        </p:txBody>
      </p:sp>
      <p:sp>
        <p:nvSpPr>
          <p:cNvPr id="7" name="Rectangle 2">
            <a:extLst>
              <a:ext uri="{FF2B5EF4-FFF2-40B4-BE49-F238E27FC236}">
                <a16:creationId xmlns:a16="http://schemas.microsoft.com/office/drawing/2014/main" id="{DF229C32-BC8E-E56B-9F9D-D477820FAF06}"/>
              </a:ext>
            </a:extLst>
          </p:cNvPr>
          <p:cNvSpPr>
            <a:spLocks noChangeArrowheads="1"/>
          </p:cNvSpPr>
          <p:nvPr/>
        </p:nvSpPr>
        <p:spPr bwMode="auto">
          <a:xfrm>
            <a:off x="163512" y="1333013"/>
            <a:ext cx="9524999"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FontTx/>
              <a:buChar char="•"/>
            </a:pPr>
            <a:r>
              <a:rPr lang="en-US" dirty="0"/>
              <a:t> I am Ritik Agarwal (Roll No. 24EJCIT158), a B.Tech student in Information Technology at Jaipur Engineering College and Research Centre (JECRC), Jaipur.</a:t>
            </a:r>
          </a:p>
          <a:p>
            <a:pPr lvl="0">
              <a:buFontTx/>
              <a:buChar char="•"/>
            </a:pPr>
            <a:endParaRPr lang="en-US" dirty="0"/>
          </a:p>
          <a:p>
            <a:pPr lvl="0">
              <a:buFontTx/>
              <a:buChar char="•"/>
            </a:pPr>
            <a:r>
              <a:rPr lang="en-US" dirty="0"/>
              <a:t> I completed a 4-week industrial training in Python Programming at CodSoft from 25/07/2025 to 25/08/2025. The training focused on hands-on learning of Python basics, building logic, and developing small projects. During this time, I learned Python syntax, libraries, and various problem-solving techniques, which improved my technical skills.</a:t>
            </a:r>
          </a:p>
          <a:p>
            <a:pPr lvl="0">
              <a:buFontTx/>
              <a:buChar char="•"/>
            </a:pPr>
            <a:endParaRPr lang="en-US" dirty="0"/>
          </a:p>
          <a:p>
            <a:pPr lvl="0">
              <a:buFontTx/>
              <a:buChar char="•"/>
            </a:pPr>
            <a:r>
              <a:rPr lang="en-US" dirty="0"/>
              <a:t> As part of the training, I created a mini project: a Rock-Paper-Scissors Game in Python, which helped me apply programming concepts to real tasks.</a:t>
            </a:r>
            <a:endParaRPr kumimoji="0" lang="en-US" altLang="en-US" b="0" i="0" u="none" strike="noStrike" cap="none" normalizeH="0" baseline="0" dirty="0">
              <a:ln>
                <a:noFill/>
              </a:ln>
              <a:solidFill>
                <a:schemeClr val="tx1"/>
              </a:solidFill>
              <a:effectLst/>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451CA7-3245-F519-F11D-B35A7846B816}"/>
              </a:ext>
            </a:extLst>
          </p:cNvPr>
          <p:cNvSpPr txBox="1"/>
          <p:nvPr/>
        </p:nvSpPr>
        <p:spPr>
          <a:xfrm>
            <a:off x="0" y="423653"/>
            <a:ext cx="7086600" cy="646331"/>
          </a:xfrm>
          <a:prstGeom prst="rect">
            <a:avLst/>
          </a:prstGeom>
          <a:noFill/>
        </p:spPr>
        <p:txBody>
          <a:bodyPr wrap="square">
            <a:spAutoFit/>
          </a:bodyPr>
          <a:lstStyle/>
          <a:p>
            <a:pPr algn="ctr"/>
            <a:r>
              <a:rPr lang="en-IN" sz="3600" b="1" dirty="0">
                <a:solidFill>
                  <a:srgbClr val="FF0000"/>
                </a:solidFill>
                <a:latin typeface="Helvetica" panose="020B0604020202020204" pitchFamily="34" charset="0"/>
                <a:cs typeface="Helvetica" panose="020B0604020202020204" pitchFamily="34" charset="0"/>
              </a:rPr>
              <a:t>Company/Organization </a:t>
            </a:r>
            <a:r>
              <a:rPr lang="en-IN" sz="3600" b="1" i="1" dirty="0">
                <a:solidFill>
                  <a:srgbClr val="FF0000"/>
                </a:solidFill>
                <a:latin typeface="Helvetica" panose="020B0604020202020204" pitchFamily="34" charset="0"/>
                <a:cs typeface="Helvetica" panose="020B0604020202020204" pitchFamily="34" charset="0"/>
              </a:rPr>
              <a:t>Details</a:t>
            </a:r>
          </a:p>
        </p:txBody>
      </p:sp>
      <p:sp>
        <p:nvSpPr>
          <p:cNvPr id="5" name="TextBox 4">
            <a:extLst>
              <a:ext uri="{FF2B5EF4-FFF2-40B4-BE49-F238E27FC236}">
                <a16:creationId xmlns:a16="http://schemas.microsoft.com/office/drawing/2014/main" id="{7BD4C288-9F3F-7B69-EC6D-2D256F447D1E}"/>
              </a:ext>
            </a:extLst>
          </p:cNvPr>
          <p:cNvSpPr txBox="1"/>
          <p:nvPr/>
        </p:nvSpPr>
        <p:spPr>
          <a:xfrm>
            <a:off x="310620" y="1417637"/>
            <a:ext cx="9301691" cy="5693866"/>
          </a:xfrm>
          <a:prstGeom prst="rect">
            <a:avLst/>
          </a:prstGeom>
          <a:noFill/>
        </p:spPr>
        <p:txBody>
          <a:bodyPr wrap="square">
            <a:spAutoFit/>
          </a:bodyPr>
          <a:lstStyle/>
          <a:p>
            <a:pPr>
              <a:buNone/>
            </a:pPr>
            <a:r>
              <a:rPr lang="en-US" sz="2800" dirty="0"/>
              <a:t>CodSoft is an </a:t>
            </a:r>
            <a:r>
              <a:rPr lang="en-US" sz="2800" b="1" dirty="0"/>
              <a:t>IT services and product-based company</a:t>
            </a:r>
            <a:r>
              <a:rPr lang="en-US" sz="2800" dirty="0"/>
              <a:t> that delivers software development, training, and solutions in </a:t>
            </a:r>
            <a:r>
              <a:rPr lang="en-US" sz="2800" b="1" dirty="0"/>
              <a:t>emerging technologies</a:t>
            </a:r>
            <a:r>
              <a:rPr lang="en-US" sz="2800" dirty="0"/>
              <a:t>. It provides a platform for students and professionals to enhance their technical knowledge, improve problem-solving skills, and gain exposure to real-world projects.</a:t>
            </a:r>
          </a:p>
          <a:p>
            <a:pPr>
              <a:buNone/>
            </a:pPr>
            <a:r>
              <a:rPr lang="en-US" sz="2800" dirty="0"/>
              <a:t>Through its </a:t>
            </a:r>
            <a:r>
              <a:rPr lang="en-US" sz="2800" b="1" dirty="0"/>
              <a:t>internship and training programs</a:t>
            </a:r>
            <a:r>
              <a:rPr lang="en-US" sz="2800" dirty="0"/>
              <a:t>, CodSoft emphasizes </a:t>
            </a:r>
            <a:r>
              <a:rPr lang="en-US" sz="2800" b="1" dirty="0"/>
              <a:t>hands-on learning</a:t>
            </a:r>
            <a:r>
              <a:rPr lang="en-US" sz="2800" dirty="0"/>
              <a:t> by assigning practical tasks and industry-oriented projects. Its vision is to </a:t>
            </a:r>
            <a:r>
              <a:rPr lang="en-US" sz="2800" b="1" dirty="0"/>
              <a:t>bridge the gap between academic knowledge and industry needs</a:t>
            </a:r>
            <a:r>
              <a:rPr lang="en-US" sz="2800" dirty="0"/>
              <a:t>, while also nurturing talent in fields like </a:t>
            </a:r>
            <a:r>
              <a:rPr lang="en-US" sz="2800" b="1" dirty="0"/>
              <a:t>web development, artificial intelligence, data science, automation, and application development</a:t>
            </a:r>
            <a:r>
              <a:rPr lang="en-US" sz="2800" dirty="0"/>
              <a:t>.</a:t>
            </a:r>
          </a:p>
        </p:txBody>
      </p:sp>
    </p:spTree>
    <p:extLst>
      <p:ext uri="{BB962C8B-B14F-4D97-AF65-F5344CB8AC3E}">
        <p14:creationId xmlns:p14="http://schemas.microsoft.com/office/powerpoint/2010/main" val="1543242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03396F-87BD-E8B8-0659-2A955776D8F7}"/>
              </a:ext>
            </a:extLst>
          </p:cNvPr>
          <p:cNvSpPr txBox="1"/>
          <p:nvPr/>
        </p:nvSpPr>
        <p:spPr>
          <a:xfrm>
            <a:off x="163512" y="350837"/>
            <a:ext cx="5040488" cy="769441"/>
          </a:xfrm>
          <a:prstGeom prst="rect">
            <a:avLst/>
          </a:prstGeom>
          <a:noFill/>
        </p:spPr>
        <p:txBody>
          <a:bodyPr wrap="square">
            <a:spAutoFit/>
          </a:bodyPr>
          <a:lstStyle/>
          <a:p>
            <a:r>
              <a:rPr lang="en-IN" sz="4400" b="1" i="0" dirty="0">
                <a:solidFill>
                  <a:srgbClr val="FF0000"/>
                </a:solidFill>
                <a:effectLst/>
                <a:latin typeface="Helvetica" panose="020B0604020202020204" pitchFamily="34" charset="0"/>
                <a:cs typeface="Helvetica" panose="020B0604020202020204" pitchFamily="34" charset="0"/>
              </a:rPr>
              <a:t>Certificate</a:t>
            </a:r>
            <a:endParaRPr lang="en-IN" sz="4400" b="1" dirty="0">
              <a:solidFill>
                <a:srgbClr val="FF0000"/>
              </a:solidFill>
              <a:latin typeface="Helvetica" panose="020B0604020202020204" pitchFamily="34" charset="0"/>
              <a:cs typeface="Helvetica" panose="020B0604020202020204" pitchFamily="34" charset="0"/>
            </a:endParaRPr>
          </a:p>
        </p:txBody>
      </p:sp>
      <p:pic>
        <p:nvPicPr>
          <p:cNvPr id="7" name="Picture 6">
            <a:extLst>
              <a:ext uri="{FF2B5EF4-FFF2-40B4-BE49-F238E27FC236}">
                <a16:creationId xmlns:a16="http://schemas.microsoft.com/office/drawing/2014/main" id="{82750251-B016-04E4-0B39-C3D3E30311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341437"/>
            <a:ext cx="10080625" cy="6218238"/>
          </a:xfrm>
          <a:prstGeom prst="rect">
            <a:avLst/>
          </a:prstGeom>
        </p:spPr>
      </p:pic>
    </p:spTree>
    <p:extLst>
      <p:ext uri="{BB962C8B-B14F-4D97-AF65-F5344CB8AC3E}">
        <p14:creationId xmlns:p14="http://schemas.microsoft.com/office/powerpoint/2010/main" val="1897536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A6265D-1416-1ED5-2774-6BBF8137557F}"/>
              </a:ext>
            </a:extLst>
          </p:cNvPr>
          <p:cNvSpPr txBox="1"/>
          <p:nvPr/>
        </p:nvSpPr>
        <p:spPr>
          <a:xfrm>
            <a:off x="0" y="503237"/>
            <a:ext cx="7707312" cy="523220"/>
          </a:xfrm>
          <a:prstGeom prst="rect">
            <a:avLst/>
          </a:prstGeom>
          <a:noFill/>
        </p:spPr>
        <p:txBody>
          <a:bodyPr wrap="square">
            <a:spAutoFit/>
          </a:bodyPr>
          <a:lstStyle/>
          <a:p>
            <a:r>
              <a:rPr lang="en-IN" sz="2800" b="1" dirty="0">
                <a:solidFill>
                  <a:srgbClr val="FF0000"/>
                </a:solidFill>
                <a:latin typeface="Helvetica" panose="020B0604020202020204" pitchFamily="34" charset="0"/>
                <a:cs typeface="Helvetica" panose="020B0604020202020204" pitchFamily="34" charset="0"/>
              </a:rPr>
              <a:t>Technology Name - Detailed Description</a:t>
            </a:r>
          </a:p>
        </p:txBody>
      </p:sp>
      <p:sp>
        <p:nvSpPr>
          <p:cNvPr id="5" name="TextBox 4">
            <a:extLst>
              <a:ext uri="{FF2B5EF4-FFF2-40B4-BE49-F238E27FC236}">
                <a16:creationId xmlns:a16="http://schemas.microsoft.com/office/drawing/2014/main" id="{752080D7-0CEA-20F7-6E6F-DBCC2F0B06A0}"/>
              </a:ext>
            </a:extLst>
          </p:cNvPr>
          <p:cNvSpPr txBox="1"/>
          <p:nvPr/>
        </p:nvSpPr>
        <p:spPr>
          <a:xfrm>
            <a:off x="239712" y="1341437"/>
            <a:ext cx="9601200" cy="5693866"/>
          </a:xfrm>
          <a:prstGeom prst="rect">
            <a:avLst/>
          </a:prstGeom>
          <a:noFill/>
        </p:spPr>
        <p:txBody>
          <a:bodyPr wrap="square">
            <a:spAutoFit/>
          </a:bodyPr>
          <a:lstStyle/>
          <a:p>
            <a:r>
              <a:rPr lang="en-US" sz="2600" dirty="0"/>
              <a:t>Python is a high-level, interpreted, and object-oriented programming language known for its simplicity and readability. It lets developers focus more on solving problems instead of dealing with complex syntax. This makes it one of the most popular programming languages today.</a:t>
            </a:r>
          </a:p>
          <a:p>
            <a:endParaRPr lang="en-US" sz="2600" dirty="0"/>
          </a:p>
          <a:p>
            <a:r>
              <a:rPr lang="en-US" sz="2600" b="1" dirty="0"/>
              <a:t>Key Features:</a:t>
            </a:r>
          </a:p>
          <a:p>
            <a:r>
              <a:rPr lang="en-US" sz="2600" dirty="0"/>
              <a:t>1. Simple and easy to learn. It is beginner-friendly with clean and readable syntax. </a:t>
            </a:r>
          </a:p>
          <a:p>
            <a:r>
              <a:rPr lang="en-US" sz="2600" dirty="0"/>
              <a:t>2. Rich standard library. It provides built-in modules for everyday tasks like file handling, math, and networking. </a:t>
            </a:r>
          </a:p>
          <a:p>
            <a:r>
              <a:rPr lang="en-US" sz="2600" dirty="0"/>
              <a:t>3. Cross-platform support. It works on Windows, Linux, and macOS. </a:t>
            </a:r>
          </a:p>
          <a:p>
            <a:r>
              <a:rPr lang="en-US" sz="2600" dirty="0"/>
              <a:t>4. Supports OOP and functional programming. It enables modular, reusable, and efficient code.</a:t>
            </a:r>
            <a:endParaRPr lang="en-IN" sz="2600" dirty="0"/>
          </a:p>
        </p:txBody>
      </p:sp>
    </p:spTree>
    <p:extLst>
      <p:ext uri="{BB962C8B-B14F-4D97-AF65-F5344CB8AC3E}">
        <p14:creationId xmlns:p14="http://schemas.microsoft.com/office/powerpoint/2010/main" val="3510397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6E98FF-1C8E-F4F2-9574-C1110B531CEC}"/>
              </a:ext>
            </a:extLst>
          </p:cNvPr>
          <p:cNvSpPr txBox="1"/>
          <p:nvPr/>
        </p:nvSpPr>
        <p:spPr>
          <a:xfrm>
            <a:off x="239712" y="427037"/>
            <a:ext cx="6324600" cy="646331"/>
          </a:xfrm>
          <a:prstGeom prst="rect">
            <a:avLst/>
          </a:prstGeom>
          <a:noFill/>
        </p:spPr>
        <p:txBody>
          <a:bodyPr wrap="square">
            <a:spAutoFit/>
          </a:bodyPr>
          <a:lstStyle/>
          <a:p>
            <a:r>
              <a:rPr lang="en-IN" sz="3600" b="1" i="0" dirty="0">
                <a:solidFill>
                  <a:srgbClr val="FF0000"/>
                </a:solidFill>
                <a:effectLst/>
                <a:latin typeface="Helvetica" panose="020B0604020202020204" pitchFamily="34" charset="0"/>
                <a:cs typeface="Helvetica" panose="020B0604020202020204" pitchFamily="34" charset="0"/>
              </a:rPr>
              <a:t>Overview of Tools Used</a:t>
            </a:r>
            <a:endParaRPr lang="en-IN" sz="3600" b="1" dirty="0">
              <a:solidFill>
                <a:srgbClr val="FF0000"/>
              </a:solidFill>
              <a:latin typeface="Helvetica" panose="020B0604020202020204" pitchFamily="34" charset="0"/>
              <a:cs typeface="Helvetica" panose="020B0604020202020204" pitchFamily="34" charset="0"/>
            </a:endParaRPr>
          </a:p>
        </p:txBody>
      </p:sp>
      <p:sp>
        <p:nvSpPr>
          <p:cNvPr id="5" name="TextBox 4">
            <a:extLst>
              <a:ext uri="{FF2B5EF4-FFF2-40B4-BE49-F238E27FC236}">
                <a16:creationId xmlns:a16="http://schemas.microsoft.com/office/drawing/2014/main" id="{59D96B4A-A302-4F4E-71DD-771A7ACF6D8A}"/>
              </a:ext>
            </a:extLst>
          </p:cNvPr>
          <p:cNvSpPr txBox="1"/>
          <p:nvPr/>
        </p:nvSpPr>
        <p:spPr>
          <a:xfrm>
            <a:off x="119855" y="1333013"/>
            <a:ext cx="9840913" cy="4893647"/>
          </a:xfrm>
          <a:prstGeom prst="rect">
            <a:avLst/>
          </a:prstGeom>
          <a:noFill/>
        </p:spPr>
        <p:txBody>
          <a:bodyPr wrap="square">
            <a:spAutoFit/>
          </a:bodyPr>
          <a:lstStyle/>
          <a:p>
            <a:r>
              <a:rPr lang="en-IN" b="1" dirty="0"/>
              <a:t>Tools Used:-</a:t>
            </a:r>
          </a:p>
          <a:p>
            <a:endParaRPr lang="en-IN" dirty="0"/>
          </a:p>
          <a:p>
            <a:r>
              <a:rPr lang="en-IN" b="1" dirty="0"/>
              <a:t>Python 3:</a:t>
            </a:r>
            <a:r>
              <a:rPr lang="en-IN" dirty="0"/>
              <a:t> This is the programming language for the project. It offers simplicity and strong libraries.</a:t>
            </a:r>
          </a:p>
          <a:p>
            <a:endParaRPr lang="en-IN" dirty="0"/>
          </a:p>
          <a:p>
            <a:r>
              <a:rPr lang="en-IN" b="1" dirty="0"/>
              <a:t>Editor:</a:t>
            </a:r>
            <a:r>
              <a:rPr lang="en-IN" dirty="0"/>
              <a:t> VS Code, PyCharm. These are user-friendly IDEs. They feature syntax highlighting, debugging, and extensions to make development easier.</a:t>
            </a:r>
          </a:p>
          <a:p>
            <a:endParaRPr lang="en-IN" dirty="0"/>
          </a:p>
          <a:p>
            <a:r>
              <a:rPr lang="en-IN" b="1" dirty="0"/>
              <a:t>Library:</a:t>
            </a:r>
            <a:r>
              <a:rPr lang="en-IN" dirty="0"/>
              <a:t> “random” This is a Python standard library module. It generates random choices for the computer in the Rock-Paper-Scissors game.</a:t>
            </a:r>
          </a:p>
          <a:p>
            <a:endParaRPr lang="en-IN" dirty="0"/>
          </a:p>
          <a:p>
            <a:r>
              <a:rPr lang="en-IN" b="1" dirty="0"/>
              <a:t>Operating System: </a:t>
            </a:r>
            <a:r>
              <a:rPr lang="en-IN" dirty="0"/>
              <a:t>Windows, Linux. The project can run on multiple platforms. This shows Python’s ability to work across different systems.</a:t>
            </a:r>
          </a:p>
        </p:txBody>
      </p:sp>
    </p:spTree>
    <p:extLst>
      <p:ext uri="{BB962C8B-B14F-4D97-AF65-F5344CB8AC3E}">
        <p14:creationId xmlns:p14="http://schemas.microsoft.com/office/powerpoint/2010/main" val="988887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747973-53C6-2301-C79E-ED5F3FDE5303}"/>
              </a:ext>
            </a:extLst>
          </p:cNvPr>
          <p:cNvSpPr txBox="1"/>
          <p:nvPr/>
        </p:nvSpPr>
        <p:spPr>
          <a:xfrm>
            <a:off x="147813" y="427037"/>
            <a:ext cx="5040488" cy="646331"/>
          </a:xfrm>
          <a:prstGeom prst="rect">
            <a:avLst/>
          </a:prstGeom>
          <a:noFill/>
        </p:spPr>
        <p:txBody>
          <a:bodyPr wrap="square">
            <a:spAutoFit/>
          </a:bodyPr>
          <a:lstStyle/>
          <a:p>
            <a:r>
              <a:rPr lang="en-IN" sz="3600" b="1" i="0" dirty="0">
                <a:solidFill>
                  <a:srgbClr val="FF0000"/>
                </a:solidFill>
                <a:effectLst/>
                <a:latin typeface="Helvetica" panose="020B0604020202020204" pitchFamily="34" charset="0"/>
                <a:cs typeface="Helvetica" panose="020B0604020202020204" pitchFamily="34" charset="0"/>
              </a:rPr>
              <a:t>Project Description</a:t>
            </a:r>
            <a:endParaRPr lang="en-IN" sz="3600" b="1" dirty="0">
              <a:solidFill>
                <a:srgbClr val="FF0000"/>
              </a:solidFill>
              <a:latin typeface="Helvetica" panose="020B0604020202020204" pitchFamily="34" charset="0"/>
              <a:cs typeface="Helvetica" panose="020B0604020202020204" pitchFamily="34" charset="0"/>
            </a:endParaRPr>
          </a:p>
        </p:txBody>
      </p:sp>
      <p:sp>
        <p:nvSpPr>
          <p:cNvPr id="5" name="TextBox 4">
            <a:extLst>
              <a:ext uri="{FF2B5EF4-FFF2-40B4-BE49-F238E27FC236}">
                <a16:creationId xmlns:a16="http://schemas.microsoft.com/office/drawing/2014/main" id="{67F007BD-6E77-420E-062A-2A29463E08EC}"/>
              </a:ext>
            </a:extLst>
          </p:cNvPr>
          <p:cNvSpPr txBox="1"/>
          <p:nvPr/>
        </p:nvSpPr>
        <p:spPr>
          <a:xfrm>
            <a:off x="125412" y="1341437"/>
            <a:ext cx="9829799" cy="5262979"/>
          </a:xfrm>
          <a:prstGeom prst="rect">
            <a:avLst/>
          </a:prstGeom>
          <a:noFill/>
        </p:spPr>
        <p:txBody>
          <a:bodyPr wrap="square">
            <a:spAutoFit/>
          </a:bodyPr>
          <a:lstStyle/>
          <a:p>
            <a:r>
              <a:rPr lang="en-IN" b="1" dirty="0"/>
              <a:t>Objective:</a:t>
            </a:r>
            <a:r>
              <a:rPr lang="en-IN" dirty="0"/>
              <a:t>  </a:t>
            </a:r>
          </a:p>
          <a:p>
            <a:r>
              <a:rPr lang="en-IN" dirty="0"/>
              <a:t>To create an interactive Python game that lets a user play Rock-Paper-Scissors against the computer. This project shows how to handle input, use conditional statements, and implement randomization in Python.</a:t>
            </a:r>
          </a:p>
          <a:p>
            <a:endParaRPr lang="en-IN" dirty="0"/>
          </a:p>
          <a:p>
            <a:r>
              <a:rPr lang="en-IN" b="1" dirty="0"/>
              <a:t>Features:</a:t>
            </a:r>
            <a:r>
              <a:rPr lang="en-IN" dirty="0"/>
              <a:t>  </a:t>
            </a:r>
          </a:p>
          <a:p>
            <a:endParaRPr lang="en-IN" dirty="0"/>
          </a:p>
          <a:p>
            <a:r>
              <a:rPr lang="en-IN" dirty="0"/>
              <a:t>1. Accepts user input (r, p, s) for Rock, Paper, or Scissors.  </a:t>
            </a:r>
          </a:p>
          <a:p>
            <a:endParaRPr lang="en-IN" dirty="0"/>
          </a:p>
          <a:p>
            <a:r>
              <a:rPr lang="en-IN" dirty="0"/>
              <a:t>2. The computer makes a random choice using Python’s random library.  </a:t>
            </a:r>
          </a:p>
          <a:p>
            <a:endParaRPr lang="en-IN" dirty="0"/>
          </a:p>
          <a:p>
            <a:r>
              <a:rPr lang="en-IN" dirty="0"/>
              <a:t>3. Conditional logic is used to determine the outcome: Win, Lose, or Draw.  </a:t>
            </a:r>
          </a:p>
          <a:p>
            <a:endParaRPr lang="en-IN" dirty="0"/>
          </a:p>
          <a:p>
            <a:r>
              <a:rPr lang="en-IN" dirty="0"/>
              <a:t>4. Offers a simple text-based interface for easy interaction.</a:t>
            </a:r>
          </a:p>
        </p:txBody>
      </p:sp>
    </p:spTree>
    <p:extLst>
      <p:ext uri="{BB962C8B-B14F-4D97-AF65-F5344CB8AC3E}">
        <p14:creationId xmlns:p14="http://schemas.microsoft.com/office/powerpoint/2010/main" val="4166577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6E888E-3352-9C57-F84A-DC8B537783FD}"/>
              </a:ext>
            </a:extLst>
          </p:cNvPr>
          <p:cNvPicPr>
            <a:picLocks noChangeAspect="1"/>
          </p:cNvPicPr>
          <p:nvPr/>
        </p:nvPicPr>
        <p:blipFill>
          <a:blip r:embed="rId2"/>
          <a:stretch>
            <a:fillRect/>
          </a:stretch>
        </p:blipFill>
        <p:spPr>
          <a:xfrm>
            <a:off x="0" y="1341437"/>
            <a:ext cx="10080625" cy="6218237"/>
          </a:xfrm>
          <a:prstGeom prst="rect">
            <a:avLst/>
          </a:prstGeom>
        </p:spPr>
      </p:pic>
      <p:sp>
        <p:nvSpPr>
          <p:cNvPr id="5" name="TextBox 4">
            <a:extLst>
              <a:ext uri="{FF2B5EF4-FFF2-40B4-BE49-F238E27FC236}">
                <a16:creationId xmlns:a16="http://schemas.microsoft.com/office/drawing/2014/main" id="{75A9C562-389F-89D0-3967-3941D084E764}"/>
              </a:ext>
            </a:extLst>
          </p:cNvPr>
          <p:cNvSpPr txBox="1"/>
          <p:nvPr/>
        </p:nvSpPr>
        <p:spPr>
          <a:xfrm>
            <a:off x="163512" y="427037"/>
            <a:ext cx="6705600" cy="646331"/>
          </a:xfrm>
          <a:prstGeom prst="rect">
            <a:avLst/>
          </a:prstGeom>
          <a:noFill/>
        </p:spPr>
        <p:txBody>
          <a:bodyPr wrap="square">
            <a:spAutoFit/>
          </a:bodyPr>
          <a:lstStyle/>
          <a:p>
            <a:r>
              <a:rPr lang="en-IN" sz="3600" b="1" i="0" dirty="0">
                <a:solidFill>
                  <a:srgbClr val="FF0000"/>
                </a:solidFill>
                <a:effectLst/>
                <a:latin typeface="Helvetica" panose="020B0604020202020204" pitchFamily="34" charset="0"/>
                <a:cs typeface="Helvetica" panose="020B0604020202020204" pitchFamily="34" charset="0"/>
              </a:rPr>
              <a:t>Screenshots</a:t>
            </a:r>
            <a:r>
              <a:rPr lang="en-IN" sz="3600" b="1" i="0" dirty="0">
                <a:solidFill>
                  <a:srgbClr val="FF0000"/>
                </a:solidFill>
                <a:effectLst/>
                <a:latin typeface="Arial" panose="020B0604020202020204" pitchFamily="34" charset="0"/>
              </a:rPr>
              <a:t> of Project(Code)</a:t>
            </a:r>
            <a:endParaRPr lang="en-IN" sz="3600" b="1" dirty="0">
              <a:solidFill>
                <a:srgbClr val="FF0000"/>
              </a:solidFill>
            </a:endParaRPr>
          </a:p>
        </p:txBody>
      </p:sp>
    </p:spTree>
    <p:extLst>
      <p:ext uri="{BB962C8B-B14F-4D97-AF65-F5344CB8AC3E}">
        <p14:creationId xmlns:p14="http://schemas.microsoft.com/office/powerpoint/2010/main" val="19323040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20A350-8794-1692-5A2A-B697FA902A08}"/>
              </a:ext>
            </a:extLst>
          </p:cNvPr>
          <p:cNvSpPr txBox="1"/>
          <p:nvPr/>
        </p:nvSpPr>
        <p:spPr>
          <a:xfrm>
            <a:off x="30868" y="427037"/>
            <a:ext cx="7086600" cy="646331"/>
          </a:xfrm>
          <a:prstGeom prst="rect">
            <a:avLst/>
          </a:prstGeom>
          <a:noFill/>
        </p:spPr>
        <p:txBody>
          <a:bodyPr wrap="square">
            <a:spAutoFit/>
          </a:bodyPr>
          <a:lstStyle/>
          <a:p>
            <a:r>
              <a:rPr lang="en-IN" sz="3600" b="1" i="0" dirty="0">
                <a:solidFill>
                  <a:srgbClr val="FF0000"/>
                </a:solidFill>
                <a:effectLst/>
                <a:latin typeface="Helvetica" panose="020B0604020202020204" pitchFamily="34" charset="0"/>
                <a:cs typeface="Helvetica" panose="020B0604020202020204" pitchFamily="34" charset="0"/>
              </a:rPr>
              <a:t>Screenshots</a:t>
            </a:r>
            <a:r>
              <a:rPr lang="en-IN" sz="3600" b="1" i="0" dirty="0">
                <a:solidFill>
                  <a:srgbClr val="FF0000"/>
                </a:solidFill>
                <a:effectLst/>
                <a:latin typeface="Arial" panose="020B0604020202020204" pitchFamily="34" charset="0"/>
              </a:rPr>
              <a:t> of Project(Output)</a:t>
            </a:r>
            <a:endParaRPr lang="en-IN" sz="3600" b="1" dirty="0">
              <a:solidFill>
                <a:srgbClr val="FF0000"/>
              </a:solidFill>
            </a:endParaRPr>
          </a:p>
        </p:txBody>
      </p:sp>
      <p:pic>
        <p:nvPicPr>
          <p:cNvPr id="5" name="Picture 4">
            <a:extLst>
              <a:ext uri="{FF2B5EF4-FFF2-40B4-BE49-F238E27FC236}">
                <a16:creationId xmlns:a16="http://schemas.microsoft.com/office/drawing/2014/main" id="{8BE1BB46-5F19-F928-B8E5-A8A84336C0FE}"/>
              </a:ext>
            </a:extLst>
          </p:cNvPr>
          <p:cNvPicPr>
            <a:picLocks noChangeAspect="1"/>
          </p:cNvPicPr>
          <p:nvPr/>
        </p:nvPicPr>
        <p:blipFill>
          <a:blip r:embed="rId2"/>
          <a:stretch>
            <a:fillRect/>
          </a:stretch>
        </p:blipFill>
        <p:spPr>
          <a:xfrm>
            <a:off x="-1" y="1341437"/>
            <a:ext cx="10080626" cy="6218238"/>
          </a:xfrm>
          <a:prstGeom prst="rect">
            <a:avLst/>
          </a:prstGeom>
        </p:spPr>
      </p:pic>
    </p:spTree>
    <p:extLst>
      <p:ext uri="{BB962C8B-B14F-4D97-AF65-F5344CB8AC3E}">
        <p14:creationId xmlns:p14="http://schemas.microsoft.com/office/powerpoint/2010/main" val="2533151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2716FD-3086-7A3C-2BD8-D4050C058010}"/>
              </a:ext>
            </a:extLst>
          </p:cNvPr>
          <p:cNvSpPr txBox="1"/>
          <p:nvPr/>
        </p:nvSpPr>
        <p:spPr>
          <a:xfrm>
            <a:off x="163512" y="1341437"/>
            <a:ext cx="9753600" cy="5262979"/>
          </a:xfrm>
          <a:prstGeom prst="rect">
            <a:avLst/>
          </a:prstGeom>
          <a:noFill/>
        </p:spPr>
        <p:txBody>
          <a:bodyPr wrap="square">
            <a:spAutoFit/>
          </a:bodyPr>
          <a:lstStyle/>
          <a:p>
            <a:r>
              <a:rPr lang="en-US" dirty="0">
                <a:solidFill>
                  <a:srgbClr val="1F243C"/>
                </a:solidFill>
                <a:cs typeface="Times New Roman" panose="02020603050405020304" pitchFamily="18" charset="0"/>
              </a:rPr>
              <a:t>1. The project showed how to use basic Python features, such as input handling, conditional statements, and the random module. </a:t>
            </a:r>
          </a:p>
          <a:p>
            <a:endParaRPr lang="en-US" dirty="0">
              <a:solidFill>
                <a:srgbClr val="1F243C"/>
              </a:solidFill>
              <a:cs typeface="Times New Roman" panose="02020603050405020304" pitchFamily="18" charset="0"/>
            </a:endParaRPr>
          </a:p>
          <a:p>
            <a:r>
              <a:rPr lang="en-US" dirty="0">
                <a:solidFill>
                  <a:srgbClr val="1F243C"/>
                </a:solidFill>
                <a:cs typeface="Times New Roman" panose="02020603050405020304" pitchFamily="18" charset="0"/>
              </a:rPr>
              <a:t>2. It offered a straightforward way to apply programming logic in a small real-world application. </a:t>
            </a:r>
          </a:p>
          <a:p>
            <a:endParaRPr lang="en-US" dirty="0">
              <a:solidFill>
                <a:srgbClr val="1F243C"/>
              </a:solidFill>
              <a:cs typeface="Times New Roman" panose="02020603050405020304" pitchFamily="18" charset="0"/>
            </a:endParaRPr>
          </a:p>
          <a:p>
            <a:r>
              <a:rPr lang="en-US" dirty="0">
                <a:solidFill>
                  <a:srgbClr val="1F243C"/>
                </a:solidFill>
                <a:cs typeface="Times New Roman" panose="02020603050405020304" pitchFamily="18" charset="0"/>
              </a:rPr>
              <a:t>3. Creating the Rock-Paper-Scissors game boosted my problem-solving skills, coding efficiency, and logical thinking. </a:t>
            </a:r>
          </a:p>
          <a:p>
            <a:endParaRPr lang="en-US" dirty="0">
              <a:solidFill>
                <a:srgbClr val="1F243C"/>
              </a:solidFill>
              <a:cs typeface="Times New Roman" panose="02020603050405020304" pitchFamily="18" charset="0"/>
            </a:endParaRPr>
          </a:p>
          <a:p>
            <a:r>
              <a:rPr lang="en-US" dirty="0">
                <a:solidFill>
                  <a:srgbClr val="1F243C"/>
                </a:solidFill>
                <a:cs typeface="Times New Roman" panose="02020603050405020304" pitchFamily="18" charset="0"/>
              </a:rPr>
              <a:t>4. The project gave me practical experience in building interactive programs, connecting theoretical ideas with real-world use. </a:t>
            </a:r>
          </a:p>
          <a:p>
            <a:endParaRPr lang="en-US" dirty="0">
              <a:solidFill>
                <a:srgbClr val="1F243C"/>
              </a:solidFill>
              <a:cs typeface="Times New Roman" panose="02020603050405020304" pitchFamily="18" charset="0"/>
            </a:endParaRPr>
          </a:p>
          <a:p>
            <a:r>
              <a:rPr lang="en-US" dirty="0">
                <a:solidFill>
                  <a:srgbClr val="1F243C"/>
                </a:solidFill>
                <a:cs typeface="Times New Roman" panose="02020603050405020304" pitchFamily="18" charset="0"/>
              </a:rPr>
              <a:t>5. Overall, the internship and project built my confidence in Python programming and got me ready for more complex applications.</a:t>
            </a:r>
            <a:endParaRPr lang="en-IN" dirty="0">
              <a:cs typeface="Times New Roman" panose="02020603050405020304" pitchFamily="18" charset="0"/>
            </a:endParaRPr>
          </a:p>
        </p:txBody>
      </p:sp>
      <p:sp>
        <p:nvSpPr>
          <p:cNvPr id="5" name="TextBox 4">
            <a:extLst>
              <a:ext uri="{FF2B5EF4-FFF2-40B4-BE49-F238E27FC236}">
                <a16:creationId xmlns:a16="http://schemas.microsoft.com/office/drawing/2014/main" id="{E2BA7B5C-51FD-F007-66C9-E32D0E56B2B3}"/>
              </a:ext>
            </a:extLst>
          </p:cNvPr>
          <p:cNvSpPr txBox="1"/>
          <p:nvPr/>
        </p:nvSpPr>
        <p:spPr>
          <a:xfrm>
            <a:off x="163512" y="427037"/>
            <a:ext cx="5040488" cy="646331"/>
          </a:xfrm>
          <a:prstGeom prst="rect">
            <a:avLst/>
          </a:prstGeom>
          <a:noFill/>
        </p:spPr>
        <p:txBody>
          <a:bodyPr wrap="square">
            <a:spAutoFit/>
          </a:bodyPr>
          <a:lstStyle/>
          <a:p>
            <a:r>
              <a:rPr lang="en-IN" sz="3600" b="1" i="0" dirty="0">
                <a:solidFill>
                  <a:srgbClr val="FF0000"/>
                </a:solidFill>
                <a:effectLst/>
                <a:latin typeface="Helvetica" panose="020B0604020202020204" pitchFamily="34" charset="0"/>
                <a:cs typeface="Helvetica" panose="020B0604020202020204" pitchFamily="34" charset="0"/>
              </a:rPr>
              <a:t>Conclusion</a:t>
            </a:r>
            <a:endParaRPr lang="en-IN" sz="3600" b="1" dirty="0">
              <a:solidFill>
                <a:srgbClr val="FF0000"/>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952994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5ED2DC-BD18-6D18-ACB8-327C326C459E}"/>
              </a:ext>
            </a:extLst>
          </p:cNvPr>
          <p:cNvSpPr txBox="1"/>
          <p:nvPr/>
        </p:nvSpPr>
        <p:spPr>
          <a:xfrm>
            <a:off x="163512" y="427037"/>
            <a:ext cx="5040488" cy="646331"/>
          </a:xfrm>
          <a:prstGeom prst="rect">
            <a:avLst/>
          </a:prstGeom>
          <a:noFill/>
        </p:spPr>
        <p:txBody>
          <a:bodyPr wrap="square">
            <a:spAutoFit/>
          </a:bodyPr>
          <a:lstStyle/>
          <a:p>
            <a:r>
              <a:rPr lang="en-IN" sz="3600" b="1" i="0" dirty="0">
                <a:solidFill>
                  <a:srgbClr val="FF0000"/>
                </a:solidFill>
                <a:effectLst/>
                <a:latin typeface="Helvetica" panose="020B0604020202020204" pitchFamily="34" charset="0"/>
                <a:cs typeface="Helvetica" panose="020B0604020202020204" pitchFamily="34" charset="0"/>
              </a:rPr>
              <a:t>Future Scope</a:t>
            </a:r>
            <a:endParaRPr lang="en-IN" sz="3600" b="1" dirty="0">
              <a:solidFill>
                <a:srgbClr val="FF0000"/>
              </a:solidFill>
              <a:latin typeface="Helvetica" panose="020B0604020202020204" pitchFamily="34" charset="0"/>
              <a:cs typeface="Helvetica" panose="020B0604020202020204" pitchFamily="34" charset="0"/>
            </a:endParaRPr>
          </a:p>
        </p:txBody>
      </p:sp>
      <p:sp>
        <p:nvSpPr>
          <p:cNvPr id="5" name="TextBox 4">
            <a:extLst>
              <a:ext uri="{FF2B5EF4-FFF2-40B4-BE49-F238E27FC236}">
                <a16:creationId xmlns:a16="http://schemas.microsoft.com/office/drawing/2014/main" id="{B6155EED-3A53-9B30-62F8-7EAED4F72009}"/>
              </a:ext>
            </a:extLst>
          </p:cNvPr>
          <p:cNvSpPr txBox="1"/>
          <p:nvPr/>
        </p:nvSpPr>
        <p:spPr>
          <a:xfrm>
            <a:off x="0" y="1341437"/>
            <a:ext cx="10080625" cy="5262979"/>
          </a:xfrm>
          <a:prstGeom prst="rect">
            <a:avLst/>
          </a:prstGeom>
          <a:noFill/>
        </p:spPr>
        <p:txBody>
          <a:bodyPr wrap="square">
            <a:spAutoFit/>
          </a:bodyPr>
          <a:lstStyle/>
          <a:p>
            <a:r>
              <a:rPr lang="en-IN" dirty="0"/>
              <a:t>The Rock-Paper-Scissors project can be improved and expanded in several ways:</a:t>
            </a:r>
          </a:p>
          <a:p>
            <a:endParaRPr lang="en-IN" dirty="0"/>
          </a:p>
          <a:p>
            <a:r>
              <a:rPr lang="en-IN" b="1" dirty="0"/>
              <a:t>1. Graphical User Interface (GUI):</a:t>
            </a:r>
            <a:r>
              <a:rPr lang="en-IN" dirty="0"/>
              <a:t> Create a more engaging interface using PyGame for better user interaction.</a:t>
            </a:r>
          </a:p>
          <a:p>
            <a:endParaRPr lang="en-IN" dirty="0"/>
          </a:p>
          <a:p>
            <a:r>
              <a:rPr lang="en-IN" b="1" dirty="0"/>
              <a:t>2. Score Tracking System:</a:t>
            </a:r>
            <a:r>
              <a:rPr lang="en-IN" dirty="0"/>
              <a:t> Keep and show player scores across multiple rounds to improve the gameplay experience.</a:t>
            </a:r>
          </a:p>
          <a:p>
            <a:endParaRPr lang="en-IN" dirty="0"/>
          </a:p>
          <a:p>
            <a:r>
              <a:rPr lang="en-IN" b="1" dirty="0"/>
              <a:t>3. Multiplayer/Online Version: </a:t>
            </a:r>
            <a:r>
              <a:rPr lang="en-IN" dirty="0"/>
              <a:t>Expand the game for two players or connect it with an online platform for real-time matches.</a:t>
            </a:r>
          </a:p>
          <a:p>
            <a:endParaRPr lang="en-IN" dirty="0"/>
          </a:p>
          <a:p>
            <a:r>
              <a:rPr lang="en-IN" b="1" dirty="0"/>
              <a:t>4. Advanced Python Applications: </a:t>
            </a:r>
            <a:r>
              <a:rPr lang="en-IN" dirty="0"/>
              <a:t>Use this foundation to look into projects in AI, Machine Learning, Web Development, and Automation.</a:t>
            </a:r>
          </a:p>
        </p:txBody>
      </p:sp>
    </p:spTree>
    <p:extLst>
      <p:ext uri="{BB962C8B-B14F-4D97-AF65-F5344CB8AC3E}">
        <p14:creationId xmlns:p14="http://schemas.microsoft.com/office/powerpoint/2010/main" val="3191334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63531B-E573-2706-C4E0-ACAD00AB635D}"/>
              </a:ext>
            </a:extLst>
          </p:cNvPr>
          <p:cNvSpPr txBox="1"/>
          <p:nvPr/>
        </p:nvSpPr>
        <p:spPr>
          <a:xfrm>
            <a:off x="239712" y="350837"/>
            <a:ext cx="5040488" cy="707886"/>
          </a:xfrm>
          <a:prstGeom prst="rect">
            <a:avLst/>
          </a:prstGeom>
          <a:noFill/>
        </p:spPr>
        <p:txBody>
          <a:bodyPr wrap="square">
            <a:spAutoFit/>
          </a:bodyPr>
          <a:lstStyle/>
          <a:p>
            <a:r>
              <a:rPr lang="en-IN" sz="4000" b="1" i="0" dirty="0">
                <a:solidFill>
                  <a:srgbClr val="FF0000"/>
                </a:solidFill>
                <a:effectLst/>
                <a:latin typeface="Helvetica" panose="020B0604020202020204" pitchFamily="34" charset="0"/>
                <a:cs typeface="Helvetica" panose="020B0604020202020204" pitchFamily="34" charset="0"/>
              </a:rPr>
              <a:t>References</a:t>
            </a:r>
            <a:endParaRPr lang="en-IN" sz="4000" b="1" dirty="0">
              <a:solidFill>
                <a:srgbClr val="FF0000"/>
              </a:solidFill>
              <a:latin typeface="Helvetica" panose="020B0604020202020204" pitchFamily="34" charset="0"/>
              <a:cs typeface="Helvetica" panose="020B0604020202020204" pitchFamily="34" charset="0"/>
            </a:endParaRPr>
          </a:p>
        </p:txBody>
      </p:sp>
      <p:sp>
        <p:nvSpPr>
          <p:cNvPr id="5" name="TextBox 4">
            <a:extLst>
              <a:ext uri="{FF2B5EF4-FFF2-40B4-BE49-F238E27FC236}">
                <a16:creationId xmlns:a16="http://schemas.microsoft.com/office/drawing/2014/main" id="{28129719-57BD-0EE1-B680-7B08195E0791}"/>
              </a:ext>
            </a:extLst>
          </p:cNvPr>
          <p:cNvSpPr txBox="1"/>
          <p:nvPr/>
        </p:nvSpPr>
        <p:spPr>
          <a:xfrm>
            <a:off x="163512" y="1341437"/>
            <a:ext cx="9917113" cy="5693866"/>
          </a:xfrm>
          <a:prstGeom prst="rect">
            <a:avLst/>
          </a:prstGeom>
          <a:noFill/>
        </p:spPr>
        <p:txBody>
          <a:bodyPr wrap="square">
            <a:spAutoFit/>
          </a:bodyPr>
          <a:lstStyle/>
          <a:p>
            <a:pPr>
              <a:buFont typeface="+mj-lt"/>
              <a:buAutoNum type="arabicPeriod"/>
            </a:pPr>
            <a:r>
              <a:rPr lang="en-IN" sz="2800" dirty="0"/>
              <a:t> </a:t>
            </a:r>
            <a:r>
              <a:rPr lang="en-IN" sz="2800" b="1" dirty="0"/>
              <a:t>CodSoft</a:t>
            </a:r>
            <a:r>
              <a:rPr lang="en-IN" sz="2800" dirty="0"/>
              <a:t> </a:t>
            </a:r>
            <a:r>
              <a:rPr lang="en-IN" sz="2800" b="1" dirty="0"/>
              <a:t>–</a:t>
            </a:r>
            <a:r>
              <a:rPr lang="en-IN" sz="2800" dirty="0"/>
              <a:t> </a:t>
            </a:r>
            <a:r>
              <a:rPr lang="en-IN" sz="2800" i="1" dirty="0"/>
              <a:t>Internship Offer Letter and Certificate</a:t>
            </a:r>
            <a:r>
              <a:rPr lang="en-IN" sz="2800" dirty="0"/>
              <a:t> (2025).</a:t>
            </a:r>
          </a:p>
          <a:p>
            <a:pPr>
              <a:buFont typeface="+mj-lt"/>
              <a:buAutoNum type="arabicPeriod"/>
            </a:pPr>
            <a:endParaRPr lang="en-IN" sz="2800" dirty="0"/>
          </a:p>
          <a:p>
            <a:pPr>
              <a:buFont typeface="+mj-lt"/>
              <a:buAutoNum type="arabicPeriod"/>
            </a:pPr>
            <a:r>
              <a:rPr lang="en-IN" sz="2800" dirty="0"/>
              <a:t> </a:t>
            </a:r>
            <a:r>
              <a:rPr lang="en-IN" sz="2800" b="1" dirty="0"/>
              <a:t>CodSoft</a:t>
            </a:r>
            <a:r>
              <a:rPr lang="en-IN" sz="2800" dirty="0"/>
              <a:t> </a:t>
            </a:r>
            <a:r>
              <a:rPr lang="en-IN" sz="2800" b="1" dirty="0"/>
              <a:t>–</a:t>
            </a:r>
            <a:r>
              <a:rPr lang="en-IN" sz="2800" dirty="0"/>
              <a:t> </a:t>
            </a:r>
            <a:r>
              <a:rPr lang="en-IN" sz="2800" i="1" dirty="0"/>
              <a:t>Industrial Training Write-up on Python Programming</a:t>
            </a:r>
            <a:r>
              <a:rPr lang="en-IN" sz="2800" dirty="0"/>
              <a:t> (2025).</a:t>
            </a:r>
          </a:p>
          <a:p>
            <a:pPr>
              <a:buFont typeface="+mj-lt"/>
              <a:buAutoNum type="arabicPeriod"/>
            </a:pPr>
            <a:endParaRPr lang="en-IN" sz="2800" dirty="0"/>
          </a:p>
          <a:p>
            <a:pPr>
              <a:buFont typeface="+mj-lt"/>
              <a:buAutoNum type="arabicPeriod"/>
            </a:pPr>
            <a:r>
              <a:rPr lang="en-IN" sz="2800" dirty="0"/>
              <a:t> </a:t>
            </a:r>
            <a:r>
              <a:rPr lang="en-IN" sz="2800" b="1" dirty="0"/>
              <a:t>Python Software Foundation –</a:t>
            </a:r>
            <a:r>
              <a:rPr lang="en-IN" sz="2800" dirty="0"/>
              <a:t> </a:t>
            </a:r>
            <a:r>
              <a:rPr lang="en-IN" sz="2800" i="1" dirty="0"/>
              <a:t>Python 3 Documentation</a:t>
            </a:r>
            <a:r>
              <a:rPr lang="en-IN" sz="2800" dirty="0"/>
              <a:t>. Available at: </a:t>
            </a:r>
            <a:r>
              <a:rPr lang="en-IN" sz="2800" dirty="0">
                <a:solidFill>
                  <a:schemeClr val="accent2"/>
                </a:solidFill>
                <a:hlinkClick r:id="rId2">
                  <a:extLst>
                    <a:ext uri="{A12FA001-AC4F-418D-AE19-62706E023703}">
                      <ahyp:hlinkClr xmlns:ahyp="http://schemas.microsoft.com/office/drawing/2018/hyperlinkcolor" val="tx"/>
                    </a:ext>
                  </a:extLst>
                </a:hlinkClick>
              </a:rPr>
              <a:t>https://docs.python.org/3/</a:t>
            </a:r>
            <a:endParaRPr lang="en-IN" sz="2800" dirty="0">
              <a:solidFill>
                <a:schemeClr val="accent2"/>
              </a:solidFill>
            </a:endParaRPr>
          </a:p>
          <a:p>
            <a:pPr>
              <a:buFont typeface="+mj-lt"/>
              <a:buAutoNum type="arabicPeriod"/>
            </a:pPr>
            <a:endParaRPr lang="en-IN" sz="2800" dirty="0"/>
          </a:p>
          <a:p>
            <a:pPr>
              <a:buFont typeface="+mj-lt"/>
              <a:buAutoNum type="arabicPeriod"/>
            </a:pPr>
            <a:r>
              <a:rPr lang="en-IN" sz="2800" dirty="0"/>
              <a:t> </a:t>
            </a:r>
            <a:r>
              <a:rPr lang="en-IN" sz="2800" b="1" dirty="0"/>
              <a:t>W3Schools –</a:t>
            </a:r>
            <a:r>
              <a:rPr lang="en-IN" sz="2800" dirty="0"/>
              <a:t> </a:t>
            </a:r>
            <a:r>
              <a:rPr lang="en-IN" sz="2800" i="1" dirty="0"/>
              <a:t>Python Tutorial</a:t>
            </a:r>
            <a:r>
              <a:rPr lang="en-IN" sz="2800" dirty="0"/>
              <a:t>. Available at: </a:t>
            </a:r>
            <a:r>
              <a:rPr lang="en-IN" sz="2800" dirty="0">
                <a:solidFill>
                  <a:schemeClr val="accent2"/>
                </a:solidFill>
              </a:rPr>
              <a:t>https://www.w3schools.com/python/</a:t>
            </a:r>
          </a:p>
          <a:p>
            <a:pPr>
              <a:buFont typeface="+mj-lt"/>
              <a:buAutoNum type="arabicPeriod"/>
            </a:pPr>
            <a:endParaRPr lang="en-IN" sz="2800" dirty="0"/>
          </a:p>
          <a:p>
            <a:pPr>
              <a:buFont typeface="+mj-lt"/>
              <a:buAutoNum type="arabicPeriod"/>
            </a:pPr>
            <a:r>
              <a:rPr lang="en-IN" sz="2800" dirty="0"/>
              <a:t> </a:t>
            </a:r>
            <a:r>
              <a:rPr lang="en-IN" sz="2800" b="1" dirty="0"/>
              <a:t>GeeksforGeeks –</a:t>
            </a:r>
            <a:r>
              <a:rPr lang="en-IN" sz="2800" dirty="0"/>
              <a:t> </a:t>
            </a:r>
            <a:r>
              <a:rPr lang="en-IN" sz="2800" i="1" dirty="0"/>
              <a:t>Python Programming Basics</a:t>
            </a:r>
            <a:r>
              <a:rPr lang="en-IN" sz="2800" dirty="0"/>
              <a:t>. Available at: https://www.geeksforgeeks.org/python-programming-language/</a:t>
            </a:r>
          </a:p>
        </p:txBody>
      </p:sp>
    </p:spTree>
    <p:extLst>
      <p:ext uri="{BB962C8B-B14F-4D97-AF65-F5344CB8AC3E}">
        <p14:creationId xmlns:p14="http://schemas.microsoft.com/office/powerpoint/2010/main" val="2663308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72B52-C288-ECA3-1E60-E91A5D45837D}"/>
              </a:ext>
            </a:extLst>
          </p:cNvPr>
          <p:cNvSpPr>
            <a:spLocks noGrp="1"/>
          </p:cNvSpPr>
          <p:nvPr>
            <p:ph type="ctrTitle"/>
          </p:nvPr>
        </p:nvSpPr>
        <p:spPr>
          <a:xfrm>
            <a:off x="755649" y="2969418"/>
            <a:ext cx="8569325" cy="1620837"/>
          </a:xfrm>
        </p:spPr>
        <p:txBody>
          <a:bodyPr/>
          <a:lstStyle/>
          <a:p>
            <a:r>
              <a:rPr lang="en-IN" sz="9600" b="1" dirty="0">
                <a:solidFill>
                  <a:srgbClr val="FF0000"/>
                </a:solidFill>
                <a:latin typeface="Algerian" panose="04020705040A02060702" pitchFamily="82" charset="0"/>
              </a:rPr>
              <a:t>THANK YOU </a:t>
            </a:r>
          </a:p>
        </p:txBody>
      </p:sp>
    </p:spTree>
    <p:extLst>
      <p:ext uri="{BB962C8B-B14F-4D97-AF65-F5344CB8AC3E}">
        <p14:creationId xmlns:p14="http://schemas.microsoft.com/office/powerpoint/2010/main" val="3226024876"/>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13589</TotalTime>
  <Words>910</Words>
  <Application>Microsoft Office PowerPoint</Application>
  <PresentationFormat>Custom</PresentationFormat>
  <Paragraphs>86</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Algerian</vt:lpstr>
      <vt:lpstr>Arial</vt:lpstr>
      <vt:lpstr>Helvetica</vt:lpstr>
      <vt:lpstr>StarBats</vt:lpstr>
      <vt:lpstr>Times</vt:lpstr>
      <vt:lpstr>Times New Roman</vt:lpstr>
      <vt:lpstr>Default Design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lakshya</dc:creator>
  <cp:lastModifiedBy>Ritik Agarwal</cp:lastModifiedBy>
  <cp:revision>47</cp:revision>
  <dcterms:created xsi:type="dcterms:W3CDTF">2002-10-10T16:43:00Z</dcterms:created>
  <dcterms:modified xsi:type="dcterms:W3CDTF">2025-09-11T12:57:13Z</dcterms:modified>
</cp:coreProperties>
</file>